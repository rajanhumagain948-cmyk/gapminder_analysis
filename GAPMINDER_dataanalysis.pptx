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D3A"/>
                </a:solidFill>
                <a:latin typeface="Noto Sans CJK JP"/>
              </a:defRPr>
            </a:pPr>
            <a:r>
              <a:rPr lang="en-US" altLang="ja-JP" sz="1300" b="0" i="0" u="none" strike="noStrike">
                <a:solidFill>
                  <a:srgbClr val="0E3D3A"/>
                </a:solidFill>
                <a:latin typeface="Noto Sans CJK JP"/>
              </a:rPr>
              <a:t>1980</a:t>
            </a:r>
            <a:r>
              <a:rPr lang="ja-JP" altLang="en-US" sz="1300" b="0" i="0" u="none" strike="noStrike">
                <a:solidFill>
                  <a:srgbClr val="0E3D3A"/>
                </a:solidFill>
                <a:latin typeface="Noto Sans CJK JP"/>
              </a:rPr>
              <a:t>年ごろ：右下がり（働くほど子が少ない）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flat">
              <a:solidFill>
                <a:srgbClr val="E2725B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2725B"/>
              </a:solidFill>
              <a:ln w="9525" cap="flat">
                <a:solidFill>
                  <a:srgbClr val="E2725B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34</c:v>
                </c:pt>
                <c:pt idx="1">
                  <c:v>40</c:v>
                </c:pt>
                <c:pt idx="2">
                  <c:v>46</c:v>
                </c:pt>
                <c:pt idx="3">
                  <c:v>52</c:v>
                </c:pt>
                <c:pt idx="4">
                  <c:v>58</c:v>
                </c:pt>
                <c:pt idx="5">
                  <c:v>64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2.5499999999999998</c:v>
                </c:pt>
                <c:pt idx="1">
                  <c:v>2.2999999999999998</c:v>
                </c:pt>
                <c:pt idx="2">
                  <c:v>2.0499999999999998</c:v>
                </c:pt>
                <c:pt idx="3">
                  <c:v>1.85</c:v>
                </c:pt>
                <c:pt idx="4">
                  <c:v>1.7</c:v>
                </c:pt>
                <c:pt idx="5">
                  <c:v>1.55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F7-AD4C-B91A-D6F53D7708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ln w="25400" cap="flat">
              <a:solidFill>
                <a:srgbClr val="3E8E84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3E8E84"/>
              </a:solidFill>
              <a:ln w="9525" cap="flat">
                <a:solidFill>
                  <a:srgbClr val="3E8E84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34</c:v>
                </c:pt>
                <c:pt idx="1">
                  <c:v>40</c:v>
                </c:pt>
                <c:pt idx="2">
                  <c:v>46</c:v>
                </c:pt>
                <c:pt idx="3">
                  <c:v>52</c:v>
                </c:pt>
                <c:pt idx="4">
                  <c:v>58</c:v>
                </c:pt>
                <c:pt idx="5">
                  <c:v>64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2.5</c:v>
                </c:pt>
                <c:pt idx="1">
                  <c:v>2.2999999999999998</c:v>
                </c:pt>
                <c:pt idx="2">
                  <c:v>2.1</c:v>
                </c:pt>
                <c:pt idx="3">
                  <c:v>1.9</c:v>
                </c:pt>
                <c:pt idx="4">
                  <c:v>1.7</c:v>
                </c:pt>
                <c:pt idx="5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0F7-AD4C-B91A-D6F53D770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8"/>
          <c:min val="30"/>
        </c:scaling>
        <c:delete val="0"/>
        <c:axPos val="b"/>
        <c:majorGridlines>
          <c:spPr>
            <a:ln w="6350" cap="flat">
              <a:solidFill>
                <a:srgbClr val="E2EA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827E"/>
                    </a:solidFill>
                    <a:latin typeface="Arial"/>
                  </a:defRPr>
                </a:pPr>
                <a:r>
                  <a:rPr lang="ja-JP" altLang="en-US" sz="1000" b="0" i="0" u="none" strike="noStrike">
                    <a:solidFill>
                      <a:srgbClr val="6E827E"/>
                    </a:solidFill>
                    <a:latin typeface="Arial"/>
                  </a:rPr>
                  <a:t>女性が働く割合（％）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82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3"/>
          <c:min val="1"/>
        </c:scaling>
        <c:delete val="0"/>
        <c:axPos val="l"/>
        <c:majorGridlines>
          <c:spPr>
            <a:ln w="6350" cap="flat">
              <a:solidFill>
                <a:srgbClr val="E2EA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827E"/>
                    </a:solidFill>
                    <a:latin typeface="Arial"/>
                  </a:defRPr>
                </a:pPr>
                <a:r>
                  <a:rPr lang="ja-JP" altLang="en-US" sz="1000" b="0" i="0" u="none" strike="noStrike">
                    <a:solidFill>
                      <a:srgbClr val="6E827E"/>
                    </a:solidFill>
                    <a:latin typeface="Arial"/>
                  </a:rPr>
                  <a:t>子どもの数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82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Noto Sans CJK JP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Noto Sans CJK JP"/>
              </a:rPr>
              <a:t>① 1980年：右下がり（逆の関係）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flat">
              <a:solidFill>
                <a:srgbClr val="D99A33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D99A33"/>
              </a:solidFill>
              <a:ln w="9525" cap="flat">
                <a:solidFill>
                  <a:srgbClr val="D99A3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35</c:v>
                </c:pt>
                <c:pt idx="1">
                  <c:v>45</c:v>
                </c:pt>
                <c:pt idx="2">
                  <c:v>55</c:v>
                </c:pt>
                <c:pt idx="3">
                  <c:v>65</c:v>
                </c:pt>
                <c:pt idx="4">
                  <c:v>72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2.35</c:v>
                </c:pt>
                <c:pt idx="1">
                  <c:v>2.0499999999999998</c:v>
                </c:pt>
                <c:pt idx="2">
                  <c:v>1.8</c:v>
                </c:pt>
                <c:pt idx="3">
                  <c:v>1.62</c:v>
                </c:pt>
                <c:pt idx="4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9A4-1449-85D3-7B0F504479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ln w="25400" cap="flat">
              <a:solidFill>
                <a:srgbClr val="A7D0C9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A7D0C9"/>
              </a:solidFill>
              <a:ln w="9525" cap="flat">
                <a:solidFill>
                  <a:srgbClr val="A7D0C9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35</c:v>
                </c:pt>
                <c:pt idx="1">
                  <c:v>45</c:v>
                </c:pt>
                <c:pt idx="2">
                  <c:v>55</c:v>
                </c:pt>
                <c:pt idx="3">
                  <c:v>65</c:v>
                </c:pt>
                <c:pt idx="4">
                  <c:v>72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2.3058791704238053</c:v>
                </c:pt>
                <c:pt idx="1">
                  <c:v>2.0781064021641118</c:v>
                </c:pt>
                <c:pt idx="2">
                  <c:v>1.8503336339044185</c:v>
                </c:pt>
                <c:pt idx="3">
                  <c:v>1.6225608656447252</c:v>
                </c:pt>
                <c:pt idx="4">
                  <c:v>1.4631199278629399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9A4-1449-85D3-7B0F50447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8"/>
          <c:min val="30"/>
        </c:scaling>
        <c:delete val="0"/>
        <c:axPos val="b"/>
        <c:majorGridlines>
          <c:spPr>
            <a:ln w="6350" cap="flat">
              <a:solidFill>
                <a:srgbClr val="1C5A53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2.4"/>
          <c:min val="1"/>
        </c:scaling>
        <c:delete val="0"/>
        <c:axPos val="l"/>
        <c:majorGridlines>
          <c:spPr>
            <a:ln w="6350" cap="flat">
              <a:solidFill>
                <a:srgbClr val="1C5A5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0E3D3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E3D3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Noto Sans CJK JP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Noto Sans CJK JP"/>
              </a:rPr>
              <a:t>② 2000年代：右上がり（同じ向き）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flat">
              <a:solidFill>
                <a:srgbClr val="D99A33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D99A33"/>
              </a:solidFill>
              <a:ln w="9525" cap="flat">
                <a:solidFill>
                  <a:srgbClr val="D99A3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68</c:v>
                </c:pt>
                <c:pt idx="4">
                  <c:v>75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1.3</c:v>
                </c:pt>
                <c:pt idx="1">
                  <c:v>1.48</c:v>
                </c:pt>
                <c:pt idx="2">
                  <c:v>1.66</c:v>
                </c:pt>
                <c:pt idx="3">
                  <c:v>1.82</c:v>
                </c:pt>
                <c:pt idx="4">
                  <c:v>1.92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507-E741-BDB2-5066BC0DBB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ln w="25400" cap="flat">
              <a:solidFill>
                <a:srgbClr val="A7D0C9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A7D0C9"/>
              </a:solidFill>
              <a:ln w="9525" cap="flat">
                <a:solidFill>
                  <a:srgbClr val="A7D0C9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68</c:v>
                </c:pt>
                <c:pt idx="4">
                  <c:v>75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1.3015246406570822</c:v>
                </c:pt>
                <c:pt idx="1">
                  <c:v>1.4813501026694036</c:v>
                </c:pt>
                <c:pt idx="2">
                  <c:v>1.661175564681725</c:v>
                </c:pt>
                <c:pt idx="3">
                  <c:v>1.805035934291582</c:v>
                </c:pt>
                <c:pt idx="4">
                  <c:v>1.9309137577002071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507-E741-BDB2-5066BC0DB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8"/>
          <c:min val="30"/>
        </c:scaling>
        <c:delete val="0"/>
        <c:axPos val="b"/>
        <c:majorGridlines>
          <c:spPr>
            <a:ln w="6350" cap="flat">
              <a:solidFill>
                <a:srgbClr val="1C5A53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2.4"/>
          <c:min val="1"/>
        </c:scaling>
        <c:delete val="0"/>
        <c:axPos val="l"/>
        <c:majorGridlines>
          <c:spPr>
            <a:ln w="6350" cap="flat">
              <a:solidFill>
                <a:srgbClr val="1C5A5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0E3D3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E3D3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子どもの数</c:v>
                </c:pt>
              </c:strCache>
            </c:strRef>
          </c:tx>
          <c:spPr>
            <a:solidFill>
              <a:srgbClr val="C254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48-C744-92B4-3FB7F4F3E992}"/>
              </c:ext>
            </c:extLst>
          </c:dPt>
          <c:dPt>
            <c:idx val="1"/>
            <c:invertIfNegative val="0"/>
            <c:bubble3D val="0"/>
            <c:spPr>
              <a:solidFill>
                <a:srgbClr val="E272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48-C744-92B4-3FB7F4F3E992}"/>
              </c:ext>
            </c:extLst>
          </c:dPt>
          <c:dPt>
            <c:idx val="2"/>
            <c:invertIfNegative val="0"/>
            <c:bubble3D val="0"/>
            <c:spPr>
              <a:solidFill>
                <a:srgbClr val="E272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48-C744-92B4-3FB7F4F3E992}"/>
              </c:ext>
            </c:extLst>
          </c:dPt>
          <c:dPt>
            <c:idx val="3"/>
            <c:invertIfNegative val="0"/>
            <c:bubble3D val="0"/>
            <c:spPr>
              <a:solidFill>
                <a:srgbClr val="3E8E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048-C744-92B4-3FB7F4F3E992}"/>
              </c:ext>
            </c:extLst>
          </c:dPt>
          <c:dPt>
            <c:idx val="4"/>
            <c:invertIfNegative val="0"/>
            <c:bubble3D val="0"/>
            <c:spPr>
              <a:solidFill>
                <a:srgbClr val="6E82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048-C744-92B4-3FB7F4F3E992}"/>
              </c:ext>
            </c:extLst>
          </c:dPt>
          <c:dPt>
            <c:idx val="5"/>
            <c:invertIfNegative val="0"/>
            <c:bubble3D val="0"/>
            <c:spPr>
              <a:solidFill>
                <a:srgbClr val="3E8E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048-C744-92B4-3FB7F4F3E992}"/>
              </c:ext>
            </c:extLst>
          </c:dPt>
          <c:dPt>
            <c:idx val="6"/>
            <c:invertIfNegative val="0"/>
            <c:bubble3D val="0"/>
            <c:spPr>
              <a:solidFill>
                <a:srgbClr val="3E8E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048-C744-92B4-3FB7F4F3E992}"/>
              </c:ext>
            </c:extLst>
          </c:dPt>
          <c:dPt>
            <c:idx val="7"/>
            <c:invertIfNegative val="0"/>
            <c:bubble3D val="0"/>
            <c:spPr>
              <a:solidFill>
                <a:srgbClr val="3E8E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048-C744-92B4-3FB7F4F3E992}"/>
              </c:ext>
            </c:extLst>
          </c:dPt>
          <c:dPt>
            <c:idx val="8"/>
            <c:invertIfNegative val="0"/>
            <c:bubble3D val="0"/>
            <c:spPr>
              <a:solidFill>
                <a:srgbClr val="D99A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048-C744-92B4-3FB7F4F3E99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E3D3A"/>
                    </a:solidFill>
                    <a:latin typeface="Noto Sans CJK JP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韓国</c:v>
                </c:pt>
                <c:pt idx="1">
                  <c:v>中国</c:v>
                </c:pt>
                <c:pt idx="2">
                  <c:v>日本</c:v>
                </c:pt>
                <c:pt idx="3">
                  <c:v>イタリア</c:v>
                </c:pt>
                <c:pt idx="4">
                  <c:v>OECD平均</c:v>
                </c:pt>
                <c:pt idx="5">
                  <c:v>スウェーデン</c:v>
                </c:pt>
                <c:pt idx="6">
                  <c:v>アメリカ</c:v>
                </c:pt>
                <c:pt idx="7">
                  <c:v>フランス</c:v>
                </c:pt>
                <c:pt idx="8">
                  <c:v>イスラエル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0.75</c:v>
                </c:pt>
                <c:pt idx="1">
                  <c:v>1</c:v>
                </c:pt>
                <c:pt idx="2">
                  <c:v>1.2</c:v>
                </c:pt>
                <c:pt idx="3">
                  <c:v>1.24</c:v>
                </c:pt>
                <c:pt idx="4">
                  <c:v>1.4</c:v>
                </c:pt>
                <c:pt idx="5">
                  <c:v>1.43</c:v>
                </c:pt>
                <c:pt idx="6">
                  <c:v>1.62</c:v>
                </c:pt>
                <c:pt idx="7">
                  <c:v>1.62</c:v>
                </c:pt>
                <c:pt idx="8">
                  <c:v>2.87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048-C744-92B4-3FB7F4F3E9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8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2E"/>
                </a:solidFill>
                <a:latin typeface="Noto Sans CJK JP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D3A"/>
                </a:solidFill>
                <a:latin typeface="Noto Sans CJK JP"/>
              </a:defRPr>
            </a:pPr>
            <a:r>
              <a:rPr lang="ja-JP" altLang="en-US" sz="1300" b="0" i="0" u="none" strike="noStrike">
                <a:solidFill>
                  <a:srgbClr val="0E3D3A"/>
                </a:solidFill>
                <a:latin typeface="Noto Sans CJK JP"/>
              </a:rPr>
              <a:t>子どもの数のうつりかわり（</a:t>
            </a:r>
            <a:r>
              <a:rPr lang="en-US" altLang="ja-JP" sz="1300" b="0" i="0" u="none" strike="noStrike">
                <a:solidFill>
                  <a:srgbClr val="0E3D3A"/>
                </a:solidFill>
                <a:latin typeface="Noto Sans CJK JP"/>
              </a:rPr>
              <a:t>1980→2024</a:t>
            </a:r>
            <a:r>
              <a:rPr lang="ja-JP" altLang="en-US" sz="1300" b="0" i="0" u="none" strike="noStrike">
                <a:solidFill>
                  <a:srgbClr val="0E3D3A"/>
                </a:solidFill>
                <a:latin typeface="Noto Sans CJK JP"/>
              </a:rPr>
              <a:t>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スウェーデン</c:v>
                </c:pt>
              </c:strCache>
            </c:strRef>
          </c:tx>
          <c:spPr>
            <a:ln w="38100" cap="flat">
              <a:solidFill>
                <a:srgbClr val="3E8E8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E8E84"/>
              </a:solidFill>
              <a:ln w="9525" cap="flat">
                <a:solidFill>
                  <a:srgbClr val="3E8E8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1980</c:v>
                </c:pt>
                <c:pt idx="1">
                  <c:v>1990</c:v>
                </c:pt>
                <c:pt idx="2">
                  <c:v>2000</c:v>
                </c:pt>
                <c:pt idx="3">
                  <c:v>2010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1.68</c:v>
                </c:pt>
                <c:pt idx="1">
                  <c:v>2.13</c:v>
                </c:pt>
                <c:pt idx="2">
                  <c:v>1.54</c:v>
                </c:pt>
                <c:pt idx="3">
                  <c:v>1.98</c:v>
                </c:pt>
                <c:pt idx="4">
                  <c:v>1.43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B92-5541-B018-4AD77D088F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日本</c:v>
                </c:pt>
              </c:strCache>
            </c:strRef>
          </c:tx>
          <c:spPr>
            <a:ln w="38100" cap="flat">
              <a:solidFill>
                <a:srgbClr val="0E3D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3D3A"/>
              </a:solidFill>
              <a:ln w="9525" cap="flat">
                <a:solidFill>
                  <a:srgbClr val="0E3D3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1980</c:v>
                </c:pt>
                <c:pt idx="1">
                  <c:v>1990</c:v>
                </c:pt>
                <c:pt idx="2">
                  <c:v>2000</c:v>
                </c:pt>
                <c:pt idx="3">
                  <c:v>2010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1.75</c:v>
                </c:pt>
                <c:pt idx="1">
                  <c:v>1.54</c:v>
                </c:pt>
                <c:pt idx="2">
                  <c:v>1.36</c:v>
                </c:pt>
                <c:pt idx="3">
                  <c:v>1.39</c:v>
                </c:pt>
                <c:pt idx="4">
                  <c:v>1.2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B92-5541-B018-4AD77D088F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韓国</c:v>
                </c:pt>
              </c:strCache>
            </c:strRef>
          </c:tx>
          <c:spPr>
            <a:ln w="38100" cap="flat">
              <a:solidFill>
                <a:srgbClr val="E2725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725B"/>
              </a:solidFill>
              <a:ln w="9525" cap="flat">
                <a:solidFill>
                  <a:srgbClr val="E2725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1980</c:v>
                </c:pt>
                <c:pt idx="1">
                  <c:v>1990</c:v>
                </c:pt>
                <c:pt idx="2">
                  <c:v>2000</c:v>
                </c:pt>
                <c:pt idx="3">
                  <c:v>2010</c:v>
                </c:pt>
                <c:pt idx="4">
                  <c:v>2024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2.82</c:v>
                </c:pt>
                <c:pt idx="1">
                  <c:v>1.57</c:v>
                </c:pt>
                <c:pt idx="2">
                  <c:v>1.48</c:v>
                </c:pt>
                <c:pt idx="3">
                  <c:v>1.23</c:v>
                </c:pt>
                <c:pt idx="4">
                  <c:v>0.75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B92-5541-B018-4AD77D088F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2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.5"/>
        </c:scaling>
        <c:delete val="0"/>
        <c:axPos val="l"/>
        <c:majorGridlines>
          <c:spPr>
            <a:ln w="6350" cap="flat">
              <a:solidFill>
                <a:srgbClr val="E2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2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302E"/>
              </a:solidFill>
              <a:latin typeface="Noto Sans CJK JP"/>
              <a:cs typeface="Noto Sans CJK JP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81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822960"/>
            <a:ext cx="2286000" cy="2286000"/>
          </a:xfrm>
          <a:prstGeom prst="ellipse">
            <a:avLst/>
          </a:prstGeom>
          <a:solidFill>
            <a:srgbClr val="E2725B">
              <a:alpha val="88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Shape 1"/>
          <p:cNvSpPr/>
          <p:nvPr/>
        </p:nvSpPr>
        <p:spPr>
          <a:xfrm>
            <a:off x="11338560" y="2651760"/>
            <a:ext cx="1371600" cy="1371600"/>
          </a:xfrm>
          <a:prstGeom prst="ellipse">
            <a:avLst/>
          </a:prstGeom>
          <a:solidFill>
            <a:srgbClr val="3E8E84">
              <a:alpha val="84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4" name="Shape 2"/>
          <p:cNvSpPr/>
          <p:nvPr/>
        </p:nvSpPr>
        <p:spPr>
          <a:xfrm>
            <a:off x="9601200" y="2926080"/>
            <a:ext cx="914400" cy="914400"/>
          </a:xfrm>
          <a:prstGeom prst="ellipse">
            <a:avLst/>
          </a:prstGeom>
          <a:solidFill>
            <a:srgbClr val="A7D0C9">
              <a:alpha val="82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5" name="Shape 3"/>
          <p:cNvSpPr/>
          <p:nvPr/>
        </p:nvSpPr>
        <p:spPr>
          <a:xfrm>
            <a:off x="11612880" y="4663440"/>
            <a:ext cx="1737360" cy="1737360"/>
          </a:xfrm>
          <a:prstGeom prst="ellipse">
            <a:avLst/>
          </a:prstGeom>
          <a:solidFill>
            <a:srgbClr val="C2543E">
              <a:alpha val="86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6" name="Shape 4"/>
          <p:cNvSpPr/>
          <p:nvPr/>
        </p:nvSpPr>
        <p:spPr>
          <a:xfrm>
            <a:off x="10058400" y="4937760"/>
            <a:ext cx="1005840" cy="1005840"/>
          </a:xfrm>
          <a:prstGeom prst="ellipse">
            <a:avLst/>
          </a:prstGeom>
          <a:solidFill>
            <a:srgbClr val="D99A33">
              <a:alpha val="80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7" name="Shape 5"/>
          <p:cNvSpPr/>
          <p:nvPr/>
        </p:nvSpPr>
        <p:spPr>
          <a:xfrm>
            <a:off x="11247120" y="6035040"/>
            <a:ext cx="731520" cy="731520"/>
          </a:xfrm>
          <a:prstGeom prst="ellipse">
            <a:avLst/>
          </a:prstGeom>
          <a:solidFill>
            <a:srgbClr val="3E8E84">
              <a:alpha val="78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7D0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DEMOGRAPHY  ·  DATA REPORT  ·  GAPMINDER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少子化のパラドックス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「女性が働くこと」</a:t>
            </a:r>
            <a:r>
              <a:rPr lang="en-US" sz="3000" b="1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と</a:t>
            </a:r>
            <a:r>
              <a:rPr lang="en-US" sz="30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「子どもの数」</a:t>
            </a:r>
            <a:r>
              <a:rPr lang="en-US" sz="3000" b="1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の本当の関係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北欧では子どもの数が比較的多く、東アジアでは少ない。それはなぜか。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Gapminder のデータを見ながら、少子化を「一人ひとりの選択」ではなく「社会のしくみ」として考えます。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5806440"/>
            <a:ext cx="2926080" cy="0"/>
          </a:xfrm>
          <a:prstGeom prst="line">
            <a:avLst/>
          </a:prstGeom>
          <a:noFill/>
          <a:ln w="12700">
            <a:solidFill>
              <a:srgbClr val="2A5C56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7772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8FA8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作成： </a:t>
            </a:r>
            <a:r>
              <a:rPr lang="en-US" sz="1300" b="1" kern="0" spc="1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HUMAGAIN RAJAN</a:t>
            </a: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AGENDA — もくじ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このレポートの流れ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6" name="Shape 4"/>
          <p:cNvSpPr/>
          <p:nvPr/>
        </p:nvSpPr>
        <p:spPr>
          <a:xfrm>
            <a:off x="960120" y="2157984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7" name="Text 5"/>
          <p:cNvSpPr/>
          <p:nvPr/>
        </p:nvSpPr>
        <p:spPr>
          <a:xfrm>
            <a:off x="960120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011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グラフは何を示している？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468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横軸＝女性が働く割合、縦軸＝子どもの数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1" name="Shape 9"/>
          <p:cNvSpPr/>
          <p:nvPr/>
        </p:nvSpPr>
        <p:spPr>
          <a:xfrm>
            <a:off x="6629400" y="2157984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6629400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60920" y="2011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昔の常識と、その「逆転」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468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「働くと減る」から「働く国ほど多い」へ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227832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6" name="Shape 14"/>
          <p:cNvSpPr/>
          <p:nvPr/>
        </p:nvSpPr>
        <p:spPr>
          <a:xfrm>
            <a:off x="960120" y="3557016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7" name="Text 15"/>
          <p:cNvSpPr/>
          <p:nvPr/>
        </p:nvSpPr>
        <p:spPr>
          <a:xfrm>
            <a:off x="96012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34107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いまの世界の数字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8679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東アジアが世界でいちばん少ない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227832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1" name="Shape 19"/>
          <p:cNvSpPr/>
          <p:nvPr/>
        </p:nvSpPr>
        <p:spPr>
          <a:xfrm>
            <a:off x="6629400" y="3557016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662940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60920" y="34107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なぜ逆転したのか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38679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カギは「両立のしやすさ」と4つの条件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626864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6" name="Shape 24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7" name="Text 25"/>
          <p:cNvSpPr/>
          <p:nvPr/>
        </p:nvSpPr>
        <p:spPr>
          <a:xfrm>
            <a:off x="960120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1640" y="480974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東アジアと北欧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526694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落とし穴と、北欧のやり方・その限界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4626864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1" name="Shape 29"/>
          <p:cNvSpPr/>
          <p:nvPr/>
        </p:nvSpPr>
        <p:spPr>
          <a:xfrm>
            <a:off x="6629400" y="4956048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2" name="Text 30"/>
          <p:cNvSpPr/>
          <p:nvPr/>
        </p:nvSpPr>
        <p:spPr>
          <a:xfrm>
            <a:off x="6629400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480974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正体と、日本へのヒント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60920" y="526694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少子化は「社会のしくみ」の問題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PURPOSE — 目的と背景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このレポートで確かめたいこと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目的（研修課題として）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Gapminder のデータをもとに、「女性の社会進出」と「少子化」の関係を、思い込みではなく数字で確かめます。少子化を「一人ひとりの選択」ではなく「社会のしくみ」として理解することを目指します。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1605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「女性が働くから子どもが減る」という見方は、いまも根強くあります。けれど国どうしを比べると、その関係は逆になっており、単純な原因と結果では説明できません。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1828800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0E3D3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749808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7D0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答えたい 3つの問い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0" y="26974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11312" y="272491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関係は本当に「働く＝減る」？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37490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11312" y="37764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なぜ国によって差が出る？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48006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11312" y="48280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日本は、何を学べる？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GLOSSARY — 用語の説明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このレポートで使う言葉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817352" cy="786384"/>
          </a:xfrm>
          <a:prstGeom prst="roundRect">
            <a:avLst>
              <a:gd name="adj" fmla="val 8140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合計特殊出生率（出生率）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80560" y="1874520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女性1人が一生に産む子どもの数の目安。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779776"/>
            <a:ext cx="10817352" cy="786384"/>
          </a:xfrm>
          <a:prstGeom prst="roundRect">
            <a:avLst>
              <a:gd name="adj" fmla="val 8140"/>
            </a:avLst>
          </a:prstGeom>
          <a:solidFill>
            <a:srgbClr val="E2EEE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9" name="Text 7"/>
          <p:cNvSpPr/>
          <p:nvPr/>
        </p:nvSpPr>
        <p:spPr>
          <a:xfrm>
            <a:off x="960120" y="277977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人口置換水準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0560" y="2779776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人口が増えも減りもしない出生率の目安（約2.1）。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685032"/>
            <a:ext cx="10817352" cy="786384"/>
          </a:xfrm>
          <a:prstGeom prst="roundRect">
            <a:avLst>
              <a:gd name="adj" fmla="val 8140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960120" y="36850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労働参加率（女性）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80560" y="3685032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15歳以上の女性のうち、働いている・仕事を探している人の割合（ILO推計）。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590288"/>
            <a:ext cx="10817352" cy="786384"/>
          </a:xfrm>
          <a:prstGeom prst="roundRect">
            <a:avLst>
              <a:gd name="adj" fmla="val 8140"/>
            </a:avLst>
          </a:prstGeom>
          <a:solidFill>
            <a:srgbClr val="E2EEE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960120" y="459028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正の相関／負の相関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80560" y="4590288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一方が増えると他方も増える＝正、逆向き＝負。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495544"/>
            <a:ext cx="10817352" cy="786384"/>
          </a:xfrm>
          <a:prstGeom prst="roundRect">
            <a:avLst>
              <a:gd name="adj" fmla="val 8140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960120" y="549554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パパ・クオータ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80560" y="5495544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父親だけが使える育休の割り当て（北欧の制度）。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PUZZLE — このグラフが示すこと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横軸は「女性が働く割合」、縦軸は「子どもの数」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12064" y="1572768"/>
            <a:ext cx="7562088" cy="45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7" name="Image 0" descr="gapmi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27632"/>
            <a:ext cx="7452360" cy="4447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184672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出典：Gapminder（女性の労働参加率 × 合計特殊出生率、丸の大きさ＝人口）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75320" y="1737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動く丸＝国ごとの数字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75320" y="21488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このグラフ（Gapminder）は、国ごとの「女性が働く割合」と「子どもの数」を表します。丸の大きさは人口で、1990年から2025年へ動きます。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右下に集まる大きな赤い丸（中国・日本・韓国など）は、</a:t>
            </a:r>
            <a:r>
              <a:rPr lang="en-US" sz="1250" b="1" dirty="0">
                <a:solidFill>
                  <a:srgbClr val="C2543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よく働くのに子どもが少ない</a:t>
            </a: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、という意味です。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75320" y="4526280"/>
            <a:ext cx="3383280" cy="1508760"/>
          </a:xfrm>
          <a:prstGeom prst="roundRect">
            <a:avLst>
              <a:gd name="adj" fmla="val 6061"/>
            </a:avLst>
          </a:prstGeom>
          <a:solidFill>
            <a:srgbClr val="0E3D3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2" name="Text 9"/>
          <p:cNvSpPr/>
          <p:nvPr/>
        </p:nvSpPr>
        <p:spPr>
          <a:xfrm>
            <a:off x="8531352" y="4690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7D0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そぼくな問い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31352" y="4956048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「女性が働くと、子どもが減る」――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これは本当でしょうか？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昔の考え方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「女性が働くと、子どもは減る」</a:t>
            </a:r>
            <a:endParaRPr lang="en-US" sz="2600" dirty="0"/>
          </a:p>
        </p:txBody>
      </p:sp>
      <p:pic>
        <p:nvPicPr>
          <p:cNvPr id="6" name="Image 0" descr="icons/down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「仕事」と「子育て」は両立しにくい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51460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</a:t>
            </a:r>
            <a:r>
              <a:rPr lang="en-US" sz="14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</a:t>
            </a:r>
            <a:r>
              <a:rPr lang="en-US" sz="14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子育て</a:t>
            </a:r>
            <a:r>
              <a:rPr lang="en-US" sz="14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も、どちらも時間と体力がいります。だから「女性が働くほど子どもは減る」と、長いあいだ考えられてきました。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4160520"/>
            <a:ext cx="4983480" cy="1828800"/>
          </a:xfrm>
          <a:prstGeom prst="roundRect">
            <a:avLst>
              <a:gd name="adj" fmla="val 5000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0" name="Text 7"/>
          <p:cNvSpPr/>
          <p:nvPr/>
        </p:nvSpPr>
        <p:spPr>
          <a:xfrm>
            <a:off x="914400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1980年代までは、その通りでした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7548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国どうしをくらべると、1980年代の初めごろまでは </a:t>
            </a:r>
            <a:r>
              <a:rPr lang="en-US" sz="1250" b="1" dirty="0">
                <a:solidFill>
                  <a:srgbClr val="C2543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働く割合が高い国ほど、子どもが少ない</a:t>
            </a: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（右下がり）という関係が、たしかに見えていました。</a:t>
            </a:r>
            <a:endParaRPr lang="en-US" sz="12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080760" y="1783080"/>
          <a:ext cx="5532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イメージ図。負の関係は Ahn &amp; Mira (2002), Kögel (2004) などが報告。1960〜80年代の OECD データにもとづく。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7D0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大きな逆転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1980〜2000年代に、関係が逆になった</a:t>
            </a:r>
            <a:endParaRPr lang="en-US" sz="2600" dirty="0"/>
          </a:p>
        </p:txBody>
      </p:sp>
      <p:pic>
        <p:nvPicPr>
          <p:cNvPr id="6" name="Image 0" descr="icons/swap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276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いまの先進国では、</a:t>
            </a:r>
            <a:r>
              <a:rPr lang="en-US" sz="15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女性がよく働く国ほど、子どもが多い</a:t>
            </a:r>
            <a:r>
              <a:rPr lang="en-US" sz="1500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。国どうしの関係が、逆向きになりました。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" y="2468880"/>
          <a:ext cx="5212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400800" y="2468880"/>
          <a:ext cx="5212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出典：CEPR『A new era in the economics of fertility』, OECD (2023) など。国どうしの関係は1980年代に反転。イメージ図。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いまの数字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子どもの数は、東アジアが世界でいちばん少ない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91640"/>
          <a:ext cx="72237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7373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BEEE9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8" name="Text 5"/>
          <p:cNvSpPr/>
          <p:nvPr/>
        </p:nvSpPr>
        <p:spPr>
          <a:xfrm>
            <a:off x="845820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2543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0.75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921240" y="18745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韓国（2024）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58200" y="24871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世界でいちばん少ない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0" y="32918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2" name="Text 9"/>
          <p:cNvSpPr/>
          <p:nvPr/>
        </p:nvSpPr>
        <p:spPr>
          <a:xfrm>
            <a:off x="8458200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1.40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9921240" y="3429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OECD平均（2024）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58200" y="40416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1970年の2.84から半分以下。人口を保つのに必要な2.1を大きく下回る。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0" y="48463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543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中国・韓国・シンガポール・ウクライナは1.0未満。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「働くか・産むか」だけでは、この差は説明できません。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出典：OECD Family Database SF2.1 / Society at a Glance 2024 / UN World Fertility 2024。最新の入手できる年（2022〜2024）のおよその数字。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なぜ逆になったのか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大事なのは「働くか」ではなく「両立できるか」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ポイントは </a:t>
            </a:r>
            <a:r>
              <a:rPr lang="en-US" sz="14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仕事と子育ての両立のしやすさ</a:t>
            </a:r>
            <a:r>
              <a:rPr lang="en-US" sz="14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。両立しやすい国ほど、子どもが多くなります。それを支えるのが、次の4つの条件です。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EEF5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8" name="Shape 6"/>
          <p:cNvSpPr/>
          <p:nvPr/>
        </p:nvSpPr>
        <p:spPr>
          <a:xfrm>
            <a:off x="941832" y="2606040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9" name="Image 0" descr="icons/policy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77063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05256" y="34747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家族のための制度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05256" y="402336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育休、安くて質のよい保育、お金の支援。働きながら子どもを育てられる土台。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20440" y="233172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EEF5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3" name="Shape 10"/>
          <p:cNvSpPr/>
          <p:nvPr/>
        </p:nvSpPr>
        <p:spPr>
          <a:xfrm>
            <a:off x="3776472" y="2606040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14" name="Image 1" descr="icons/father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4" y="27706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39896" y="34747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父親も育てる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739896" y="402336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男性も家事や育児をする。母親だけに負担が集まる「ワンオペ」を減らす。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55080" y="233172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EEF5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Shape 14"/>
          <p:cNvSpPr/>
          <p:nvPr/>
        </p:nvSpPr>
        <p:spPr>
          <a:xfrm>
            <a:off x="6611112" y="2606040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19" name="Image 2" descr="icons/norm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277063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4536" y="34747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まわりの考え方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574536" y="402336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「母も働く・父も育てる」を当たり前とする空気。共働きを後押しする。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89720" y="233172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EEF5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3" name="Shape 18"/>
          <p:cNvSpPr/>
          <p:nvPr/>
        </p:nvSpPr>
        <p:spPr>
          <a:xfrm>
            <a:off x="9445752" y="2606040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24" name="Image 3" descr="icons/flex_ste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344" y="277063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09176" y="34747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働きやすい職場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409176" y="402336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長い労働時間を減らし、戻りやすく、安定して働ける。出産と両立しやすい。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85800" y="5440680"/>
            <a:ext cx="10817352" cy="713232"/>
          </a:xfrm>
          <a:prstGeom prst="roundRect">
            <a:avLst>
              <a:gd name="adj" fmla="val 10256"/>
            </a:avLst>
          </a:prstGeom>
          <a:solidFill>
            <a:srgbClr val="0E3D3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8" name="Text 22"/>
          <p:cNvSpPr/>
          <p:nvPr/>
        </p:nvSpPr>
        <p:spPr>
          <a:xfrm>
            <a:off x="960120" y="544068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＋ もうひとつ　</a:t>
            </a: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住む場所のお金。</a:t>
            </a:r>
            <a:r>
              <a:rPr lang="en-US" sz="1250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家が高い国では、ほかの条件がそろっても子どもは増えにくくなります。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出典：CEPR『A new era in the economics of fertility』が挙げる4つの要因＋OECD（2023）の住宅・家族支援の分析。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東アジアの落とし穴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仕事は進んだが、家庭と制度は昔のまま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両立しにくい条件が重なり、子どもの数が世界でいちばん少なくなりました。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E2EEE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8" name="Shape 6"/>
          <p:cNvSpPr/>
          <p:nvPr/>
        </p:nvSpPr>
        <p:spPr>
          <a:xfrm>
            <a:off x="896112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9" name="Image 0" descr="icons/book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49631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72768" y="23042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高い教育費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572768" y="261518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塾や習い事のお金が大きく、「子ども1人の費用」が重い。2人目をためらう。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3172968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3" name="Shape 10"/>
          <p:cNvSpPr/>
          <p:nvPr/>
        </p:nvSpPr>
        <p:spPr>
          <a:xfrm>
            <a:off x="896112" y="33558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4" name="Image 1" descr="icons/clock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474720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72768" y="32826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長い労働時間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572768" y="359359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フルタイム＝長時間が当たり前。産んだあと、仕事に戻りにくい。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5800" y="4151376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E2EEE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8" name="Shape 14"/>
          <p:cNvSpPr/>
          <p:nvPr/>
        </p:nvSpPr>
        <p:spPr>
          <a:xfrm>
            <a:off x="896112" y="43342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9" name="Image 2" descr="icons/norms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453128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72768" y="42611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家事は女性が中心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572768" y="457200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男性の参加が少なく、「働く＋ひとりで育児」になりがち。負担が二重になる。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5800" y="5129784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3" name="Shape 18"/>
          <p:cNvSpPr/>
          <p:nvPr/>
        </p:nvSpPr>
        <p:spPr>
          <a:xfrm>
            <a:off x="896112" y="531266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24" name="Image 3" descr="icons/home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431536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72768" y="5239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家のお金と都市集中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572768" y="5550408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都会の家賃が高く、結婚や出産のタイミングが遅れてしまう。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949440" y="2194560"/>
            <a:ext cx="4572000" cy="3886200"/>
          </a:xfrm>
          <a:prstGeom prst="roundRect">
            <a:avLst>
              <a:gd name="adj" fmla="val 2353"/>
            </a:avLst>
          </a:prstGeom>
          <a:solidFill>
            <a:srgbClr val="0E3D3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8" name="Text 22"/>
          <p:cNvSpPr/>
          <p:nvPr/>
        </p:nvSpPr>
        <p:spPr>
          <a:xfrm>
            <a:off x="722376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7D0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けっか：両立がいちばんむずかしい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223760" y="2788920"/>
            <a:ext cx="4041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CEAE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女性の学歴や働く意欲は欧米なみ。でも家庭の分担や職場・制度が追いつかず、「仕事も子育ても」がやりにくい。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22376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0.75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7223760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韓国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59536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≈1.0</a:t>
            </a:r>
            <a:endParaRPr lang="en-US" sz="3000" dirty="0"/>
          </a:p>
        </p:txBody>
      </p:sp>
      <p:sp>
        <p:nvSpPr>
          <p:cNvPr id="33" name="Text 27"/>
          <p:cNvSpPr/>
          <p:nvPr/>
        </p:nvSpPr>
        <p:spPr>
          <a:xfrm>
            <a:off x="8595360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中国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996696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≈1.2</a:t>
            </a:r>
            <a:endParaRPr lang="en-US" sz="3000" dirty="0"/>
          </a:p>
        </p:txBody>
      </p:sp>
      <p:sp>
        <p:nvSpPr>
          <p:cNvPr id="35" name="Text 29"/>
          <p:cNvSpPr/>
          <p:nvPr/>
        </p:nvSpPr>
        <p:spPr>
          <a:xfrm>
            <a:off x="9966960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223760" y="5074920"/>
            <a:ext cx="4023360" cy="0"/>
          </a:xfrm>
          <a:prstGeom prst="line">
            <a:avLst/>
          </a:prstGeom>
          <a:noFill/>
          <a:ln w="12700">
            <a:solidFill>
              <a:srgbClr val="1C5A5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7" name="Text 31"/>
          <p:cNvSpPr/>
          <p:nvPr/>
        </p:nvSpPr>
        <p:spPr>
          <a:xfrm>
            <a:off x="7223760" y="5230368"/>
            <a:ext cx="4041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少子化を「個人の問題」と見ているうちは、このしくみは変わりません。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出典：UN World Fertility 2024、OECD など。韓国の合計特殊出生率は0.75（2024）。数字はおよその値。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北欧のやり方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「共働き＋手厚い支援」で、子どもを支えた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北欧は、両立の条件をほぼそろえた地域でした。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長い育休、安い保育、共働きが当たり前という考え方、育てる父親――こうした支援のおかげで、北欧は長いあいだ、ヨーロッパの中では子どもが多めでした。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8" name="Image 0" descr="icons/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2219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703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父親がとる育休（パパ・クオータ）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4270248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1" name="Image 1" descr="icons/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891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42702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給料に応じた長い育休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" y="4837176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4" name="Image 2" descr="icons/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560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837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安い公的な保育がいきわたる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5800" y="5404104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7" name="Image 3" descr="icons/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229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54041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共働きが当たり前という考え方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126480" y="1828800"/>
          <a:ext cx="54864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3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出典：World Bank / OECD / Nordic Statistics。北欧は長く欧州で高めを保ってきた。推移はおよその値。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7D0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でも、注意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その北欧も、2010年からは大きく減っている</a:t>
            </a:r>
            <a:endParaRPr lang="en-US" sz="2600" dirty="0"/>
          </a:p>
        </p:txBody>
      </p:sp>
      <p:pic>
        <p:nvPicPr>
          <p:cNvPr id="6" name="Image 0" descr="icons/war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1907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「北欧をまねれば解決」は単純すぎます。</a:t>
            </a:r>
            <a:r>
              <a:rPr lang="en-US" sz="1450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支援が手厚いはずの北欧でも、子どもの数は過去最低まで下がっています。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2606040"/>
            <a:ext cx="3493008" cy="1691640"/>
          </a:xfrm>
          <a:prstGeom prst="roundRect">
            <a:avLst>
              <a:gd name="adj" fmla="val 5405"/>
            </a:avLst>
          </a:prstGeom>
          <a:solidFill>
            <a:srgbClr val="12504A"/>
          </a:solidFill>
          <a:ln w="12700">
            <a:solidFill>
              <a:srgbClr val="1C5A5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9" name="Text 6"/>
          <p:cNvSpPr/>
          <p:nvPr/>
        </p:nvSpPr>
        <p:spPr>
          <a:xfrm>
            <a:off x="96012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1.25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78408" y="3584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フィンランド（2024）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78408" y="387705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C3B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統計が始まった1776年いらい、最も少ない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79976" y="2606040"/>
            <a:ext cx="3493008" cy="1691640"/>
          </a:xfrm>
          <a:prstGeom prst="roundRect">
            <a:avLst>
              <a:gd name="adj" fmla="val 5405"/>
            </a:avLst>
          </a:prstGeom>
          <a:solidFill>
            <a:srgbClr val="12504A"/>
          </a:solidFill>
          <a:ln w="12700">
            <a:solidFill>
              <a:srgbClr val="1C5A5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0"/>
          <p:cNvSpPr/>
          <p:nvPr/>
        </p:nvSpPr>
        <p:spPr>
          <a:xfrm>
            <a:off x="4654296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1.43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672584" y="3584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スウェーデン（2024）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72584" y="387705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C3B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2010年とくらべて、およそ ▲28％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74152" y="2606040"/>
            <a:ext cx="3493008" cy="1691640"/>
          </a:xfrm>
          <a:prstGeom prst="roundRect">
            <a:avLst>
              <a:gd name="adj" fmla="val 5405"/>
            </a:avLst>
          </a:prstGeom>
          <a:solidFill>
            <a:srgbClr val="12504A"/>
          </a:solidFill>
          <a:ln w="12700">
            <a:solidFill>
              <a:srgbClr val="1C5A5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7" name="Text 14"/>
          <p:cNvSpPr/>
          <p:nvPr/>
        </p:nvSpPr>
        <p:spPr>
          <a:xfrm>
            <a:off x="8348472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−33%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8366760" y="3584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フィンランドの減り方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66760" y="387705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C3B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2010→2024年。EU平均の減り方（▲12%）よりずっと大きい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" y="4526280"/>
            <a:ext cx="10817352" cy="1417320"/>
          </a:xfrm>
          <a:prstGeom prst="roundRect">
            <a:avLst>
              <a:gd name="adj" fmla="val 6452"/>
            </a:avLst>
          </a:prstGeom>
          <a:solidFill>
            <a:srgbClr val="093230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1" name="Text 18"/>
          <p:cNvSpPr/>
          <p:nvPr/>
        </p:nvSpPr>
        <p:spPr>
          <a:xfrm>
            <a:off x="960120" y="46817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7D0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制度だけでは説明できない部分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6012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子どもを持たない人の増加、将来への不安、価値観の変化、育児の心の負担――研究者にもはっきりした答えがない部分があります。</a:t>
            </a:r>
            <a:r>
              <a:rPr lang="en-US" sz="13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どの国も、少子化を「解決」できていません。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出典：Nordregio / Nordic Statistics『Record low fertility in the Nordics』(2024–25)、State of the Nordic Region 2024。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パラドックスの正体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少子化は「個人の選択」ではなく「社会のしくみ」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逆説は解けます。</a:t>
            </a:r>
            <a:r>
              <a:rPr lang="en-US" sz="15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女性が働くこと自体が原因ではありません。</a:t>
            </a:r>
            <a:r>
              <a:rPr lang="en-US" sz="15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「働く」だけが先に進み、家庭の分担や社会の支援が追いつかない――そのズレが、いちばん子どもを少なくします。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EEF5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8" name="Shape 6"/>
          <p:cNvSpPr/>
          <p:nvPr/>
        </p:nvSpPr>
        <p:spPr>
          <a:xfrm>
            <a:off x="2176272" y="3154680"/>
            <a:ext cx="768096" cy="768096"/>
          </a:xfrm>
          <a:prstGeom prst="ellipse">
            <a:avLst/>
          </a:prstGeom>
          <a:solidFill>
            <a:srgbClr val="3E8E84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9" name="Image 0" descr="icons/flex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8" y="3328416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143000" y="45079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柔軟な働き方・安定した雇用・長時間労働を減らす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81144" y="288036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EEF5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3" name="Shape 10"/>
          <p:cNvSpPr/>
          <p:nvPr/>
        </p:nvSpPr>
        <p:spPr>
          <a:xfrm>
            <a:off x="5888736" y="3154680"/>
            <a:ext cx="768096" cy="768096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4" name="Image 1" descr="icons/fath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3328416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1144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家庭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855464" y="45079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父親も育てる・対等に分担・ひとり育児をなくす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93608" y="288036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EEF5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Shape 14"/>
          <p:cNvSpPr/>
          <p:nvPr/>
        </p:nvSpPr>
        <p:spPr>
          <a:xfrm>
            <a:off x="9601200" y="3154680"/>
            <a:ext cx="768096" cy="768096"/>
          </a:xfrm>
          <a:prstGeom prst="ellipse">
            <a:avLst/>
          </a:prstGeom>
          <a:solidFill>
            <a:srgbClr val="D99A33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9" name="Image 2" descr="icons/polic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36" y="3328416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93608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制度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8567928" y="45079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育休・保育・お金の支援・住まいの支援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306824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＋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8019288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＋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685800" y="5486400"/>
            <a:ext cx="10817352" cy="713232"/>
          </a:xfrm>
          <a:prstGeom prst="roundRect">
            <a:avLst>
              <a:gd name="adj" fmla="val 10256"/>
            </a:avLst>
          </a:prstGeom>
          <a:solidFill>
            <a:srgbClr val="0E3D3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5" name="Text 20"/>
          <p:cNvSpPr/>
          <p:nvPr/>
        </p:nvSpPr>
        <p:spPr>
          <a:xfrm>
            <a:off x="960120" y="548640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3つがそろって、はじめて子どもを支えられる。</a:t>
            </a:r>
            <a:r>
              <a:rPr lang="en-US" sz="1300" dirty="0">
                <a:solidFill>
                  <a:srgbClr val="CFE0D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1つでも欠けると、ほかがそろっても効果は弱まる――だから「しくみ」の問題なのです。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日本へのヒント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「産ませる」より、「両立できる」社会へ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EEF5F3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7" name="Shape 5"/>
          <p:cNvSpPr/>
          <p:nvPr/>
        </p:nvSpPr>
        <p:spPr>
          <a:xfrm>
            <a:off x="960120" y="2185416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8" name="Image 0" descr="icons/father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2257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男性も育児を当たり前に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24048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育休をふつうに取り、家の中の分担を見直す。母親の負担を減らす。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EEF5F3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2" name="Shape 9"/>
          <p:cNvSpPr/>
          <p:nvPr/>
        </p:nvSpPr>
        <p:spPr>
          <a:xfrm>
            <a:off x="6537960" y="2185416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13" name="Image 1" descr="icons/policy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32257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保育の「数」と「質」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69480" y="24048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待機をなくし、安心して預けられるように。働きながら育てる前提を支える。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85800" y="3246120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EEF5F3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7" name="Shape 13"/>
          <p:cNvSpPr/>
          <p:nvPr/>
        </p:nvSpPr>
        <p:spPr>
          <a:xfrm>
            <a:off x="960120" y="3557016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18" name="Image 2" descr="icons/clock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69417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392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長い労働時間を減らす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91640" y="37764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フルタイム＝長時間をやめ、仕事と出産を両立しやすくする。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3246120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EEF5F3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7"/>
          <p:cNvSpPr/>
          <p:nvPr/>
        </p:nvSpPr>
        <p:spPr>
          <a:xfrm>
            <a:off x="6537960" y="3557016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23" name="Image 3" descr="icons/home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9417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3392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家と教育のお金を軽く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269480" y="37764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結婚や出産を遅らせる、お金の負担を下げる。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85800" y="5074920"/>
            <a:ext cx="10817352" cy="1078992"/>
          </a:xfrm>
          <a:prstGeom prst="roundRect">
            <a:avLst>
              <a:gd name="adj" fmla="val 8475"/>
            </a:avLst>
          </a:prstGeom>
          <a:solidFill>
            <a:srgbClr val="FBEEE9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27" name="Image 4" descr="icons/warn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285232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2120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C2543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ただし、ひかえめに。 </a:t>
            </a: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どの国も、少子化を止める決め手は持っていません。目標は数字を無理に上げることではなく、</a:t>
            </a:r>
            <a:r>
              <a:rPr lang="en-US" sz="125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「子どもを持つこと」を無理なく選べる社会をつくること</a:t>
            </a: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です。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出典：OECD Society at a Glance 2024 の政策のヒント（男女の平等・育休・保育・住まいのお金）を、やさしく整理。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40080"/>
            <a:ext cx="2194560" cy="2194560"/>
          </a:xfrm>
          <a:prstGeom prst="ellipse">
            <a:avLst/>
          </a:prstGeom>
          <a:solidFill>
            <a:srgbClr val="E2725B">
              <a:alpha val="84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Shape 1"/>
          <p:cNvSpPr/>
          <p:nvPr/>
        </p:nvSpPr>
        <p:spPr>
          <a:xfrm>
            <a:off x="10972800" y="2834640"/>
            <a:ext cx="1188720" cy="1188720"/>
          </a:xfrm>
          <a:prstGeom prst="ellipse">
            <a:avLst/>
          </a:prstGeom>
          <a:solidFill>
            <a:srgbClr val="3E8E84">
              <a:alpha val="80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4" name="Shape 2"/>
          <p:cNvSpPr/>
          <p:nvPr/>
        </p:nvSpPr>
        <p:spPr>
          <a:xfrm>
            <a:off x="11750040" y="4480560"/>
            <a:ext cx="1554480" cy="1554480"/>
          </a:xfrm>
          <a:prstGeom prst="ellipse">
            <a:avLst/>
          </a:prstGeom>
          <a:solidFill>
            <a:srgbClr val="C2543E">
              <a:alpha val="82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5" name="Shape 3"/>
          <p:cNvSpPr/>
          <p:nvPr/>
        </p:nvSpPr>
        <p:spPr>
          <a:xfrm>
            <a:off x="11155680" y="5852160"/>
            <a:ext cx="822960" cy="822960"/>
          </a:xfrm>
          <a:prstGeom prst="ellipse">
            <a:avLst/>
          </a:prstGeom>
          <a:solidFill>
            <a:srgbClr val="D99A33">
              <a:alpha val="78000"/>
            </a:srgbClr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77724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D0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9293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関係は逆になった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9202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AE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むかしは「働く女性が増えると子は減る」が正しかった。でも1980〜2000年代に逆転し、いまは女性がよく働く国ほど子どもが多い。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8437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大事なのは両立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28346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AE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家族の制度・育てる父親・まわりの考え方・働きやすさ、そして住まい。両立しやすい国ほど子どもが多い。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7" name="Text 15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581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東アジアは両立が最難関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37490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AE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仕事は進んだが、家庭と制度は昔のまま。二重の負担が、世界でいちばん少ない数を生んだ。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727448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77724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6725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北欧も「解決」はない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46634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AE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支援が手厚い北欧も、近ごろは過去最低。少子化を止めた国は、まだありません。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5760720"/>
            <a:ext cx="10607040" cy="0"/>
          </a:xfrm>
          <a:prstGeom prst="line">
            <a:avLst/>
          </a:prstGeom>
          <a:noFill/>
          <a:ln w="12700">
            <a:solidFill>
              <a:srgbClr val="1C5A5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777240" y="5870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少子化は、女性が進出したせいで起きた逆説ではない。進出を支えきれない社会のズレが生んだ、しくみの結果です。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FA8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作成： </a:t>
            </a:r>
            <a:r>
              <a:rPr lang="en-US" sz="1200" b="1" kern="0" spc="1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THAPA MAGAR ANISHA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REFERENCES — 参考文献・データ出典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おもな出典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7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OECD ― Society at a Glance 2024 / Family Database (SF2.1)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UN ― World Fertility 2024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World Bank ― Open Data（出生率・労働参加率）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Gapminder ― 本レポート冒頭のグラフ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研究・論文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2402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CEPR ― “A new era in the economics of fertility”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Nordregio / Nordic Statistics ― Record low fertility in the Nordics (2024–25)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Nordregio ― State of the Nordic Region 2024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Ahn &amp; Mira (2002); Kögel (2004)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5212080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EEF5F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960120" y="5212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注： </a:t>
            </a:r>
            <a:r>
              <a:rPr lang="en-US" sz="1200" dirty="0">
                <a:solidFill>
                  <a:srgbClr val="2030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数字は最新の入手できる年（2022〜2024）のおよその値です。グラフの一部は、データをもとにしたイメージ図です。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6236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E827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作成： </a:t>
            </a:r>
            <a:r>
              <a:rPr lang="en-US" sz="1100" b="1" kern="0" spc="100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HUMAGAIN RAJAN</a:t>
            </a:r>
            <a:br>
              <a:rPr lang="en-US" sz="1100" b="1" kern="0" spc="100" dirty="0">
                <a:solidFill>
                  <a:srgbClr val="0E3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</a:b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1202</Words>
  <Application>Microsoft Macintosh PowerPoint</Application>
  <PresentationFormat>Widescreen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Noto Sans CJK JP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少子化のパラドックス</dc:title>
  <dc:subject>PptxGenJS Presentation</dc:subject>
  <dc:creator>THAPA MAGAR ANISHA</dc:creator>
  <cp:lastModifiedBy>HUMAGAIN RAJAN</cp:lastModifiedBy>
  <cp:revision>2</cp:revision>
  <dcterms:created xsi:type="dcterms:W3CDTF">2026-06-30T01:30:28Z</dcterms:created>
  <dcterms:modified xsi:type="dcterms:W3CDTF">2026-08-09T05:20:50Z</dcterms:modified>
</cp:coreProperties>
</file>